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4" d="100"/>
          <a:sy n="44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7F40C-233D-41F2-8837-913D2FE299D9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F0A69-B4AF-48A5-8FB2-6454D0E13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1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2F6A-5264-72F3-187D-077B24AD9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C2213-35AE-432F-9E99-3035BD9E2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C07D4-99E2-57AB-6078-460F51614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CB33C-E2E6-9B42-6ECB-6DFE606C2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1B419-1E10-A946-1426-52DD78F35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546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B20A6-784E-8189-1B67-CE77E0FC4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39646-097D-4479-C7C6-8E05B01AE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3225E-4113-4C7D-4209-1C59E68E2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16D78-DFF7-D3BD-F4A3-2AAD27166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5A985-475F-0AC6-7C13-AAEF310E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81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0CFAD-DC87-2579-1BF3-3BCD40207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8CFDF-9BC9-BE9C-C000-1C8B3BA85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2C886-DF74-8450-BCCE-D172C7C1A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3E0C1-BB7C-9E36-824B-A95B43E1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E47FF-2BC6-7183-EDB2-7F937B8F9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545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B3992-F058-A716-E8BD-6A6DE744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D2D33-F27A-0F5D-38AD-477E4117E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1D69F-2817-3182-3A4D-E622DEC30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9F8DA-35FA-9431-B7EC-C2796012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2DB51-E0BC-7657-D83C-41A79329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89C92-D527-204E-C8A8-4D3032EA8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31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AEBF-EB58-991F-6EBB-BD64483B7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CD87B-248A-CAAF-6330-B87C22292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1ADAB-0553-2A3A-F66C-0C037DF72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58EDF3-073A-DBE3-9876-57229E9A7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436AFC-4D3C-4479-6059-5545AF1A3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68723F-6FD0-44B5-0F5C-B647CBC73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8738CE-312B-32AB-D560-50C07537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3B0A1C-FF84-C60D-66E7-1891F935B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503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7D1E0-CB6C-FE96-0AA0-9168EB5B0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48A417-4DFD-16FF-A515-BDB934690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1DBD1-458D-1558-9EC7-2B0AED72D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9A5B6-409A-6192-4294-F20E5E0F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32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F75AB6-81AC-F589-9BBA-885404AEA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22893-1946-3336-8D3E-E07965CD4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5B2C-DC15-CB17-AD76-6367EB27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797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E4EB-CAC7-2CC0-6B5F-AF6F83F99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6D1CF-C5AD-510A-EF42-C3161038B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6F91DF-84B1-5AB8-400E-A81BC1F43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1C98F-64BC-4216-2F58-0FB5E206B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EE2CA-9996-EB54-7A06-9B7D19DF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F9C83-29A6-E075-99D1-BCA2DF0D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32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338A-068B-9490-A576-06FB10703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221BF0-8D13-D488-713F-D45C33743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B4A85-37C4-954F-EE82-3454ED382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56FF6-1535-5977-041C-2778F2A5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DE7D3-E7D6-D652-3D60-E55301954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9DF2B-D6E5-B981-21EF-02E9D6D0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19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7813-9061-566A-88C0-E3380696C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05A44-A0D2-C23E-C9E8-663A3C711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1D01E-C85D-27DE-4305-4E8A2FFAD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9D51D-5E88-516C-F0B4-1CF8DC2E3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4A4F0-29E4-2C81-C060-78C07287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360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6971CA-B61D-DDA9-8693-FAFFC42D4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5FAC1-2829-2B31-49F0-5D44CF441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0ADB0-8C30-E8FF-0317-90123601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C7A31-5DD1-3729-320A-0D6251C70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4A7BB-9352-2A4C-FF54-CB5481F9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4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B66EEF-06D0-3008-BEA1-F58E03A71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1628F-26FB-FF94-B25C-A3B237A7B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FC9CA-19DC-B48E-DD44-466252D5C8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9FC2B-7976-46EE-BC6A-1A36A475BAEC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5AE5A-A7CA-2E3A-93E1-F18BE4D48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08971-2678-DE40-4404-7F7AEC2DE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900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1100FC-41AE-15FF-3AA2-DADA5AC4D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601934"/>
              </p:ext>
            </p:extLst>
          </p:nvPr>
        </p:nvGraphicFramePr>
        <p:xfrm>
          <a:off x="564550" y="4030967"/>
          <a:ext cx="1997493" cy="165862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997493">
                  <a:extLst>
                    <a:ext uri="{9D8B030D-6E8A-4147-A177-3AD203B41FA5}">
                      <a16:colId xmlns:a16="http://schemas.microsoft.com/office/drawing/2014/main" val="3700960344"/>
                    </a:ext>
                  </a:extLst>
                </a:gridCol>
              </a:tblGrid>
              <a:tr h="2094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constituencywise_details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429769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157928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52374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EVM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2315658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Postal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786841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Total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0078327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% of Votes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18003511"/>
                  </a:ext>
                </a:extLst>
              </a:tr>
              <a:tr h="18951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Number (FK)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97581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BA5C23-54A4-1DE8-E7EF-CB20F2241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559027"/>
              </p:ext>
            </p:extLst>
          </p:nvPr>
        </p:nvGraphicFramePr>
        <p:xfrm>
          <a:off x="4368800" y="4019912"/>
          <a:ext cx="1997494" cy="166274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997494">
                  <a:extLst>
                    <a:ext uri="{9D8B030D-6E8A-4147-A177-3AD203B41FA5}">
                      <a16:colId xmlns:a16="http://schemas.microsoft.com/office/drawing/2014/main" val="3007124961"/>
                    </a:ext>
                  </a:extLst>
                </a:gridCol>
              </a:tblGrid>
              <a:tr h="2078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constituencywise</a:t>
                      </a:r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81080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Parliament Constituency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3346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Name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519977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Winning 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162147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Total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34906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Margin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360296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ID (PK)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51873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 ID (FK)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6159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013526-A28C-4C7A-D511-312886104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755493"/>
              </p:ext>
            </p:extLst>
          </p:nvPr>
        </p:nvGraphicFramePr>
        <p:xfrm>
          <a:off x="4580626" y="2104847"/>
          <a:ext cx="1440612" cy="84754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440612">
                  <a:extLst>
                    <a:ext uri="{9D8B030D-6E8A-4147-A177-3AD203B41FA5}">
                      <a16:colId xmlns:a16="http://schemas.microsoft.com/office/drawing/2014/main" val="1798366723"/>
                    </a:ext>
                  </a:extLst>
                </a:gridCol>
              </a:tblGrid>
              <a:tr h="2118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partywise_results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38220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499284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Won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1690400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 ID (PK)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31994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E83A1F-B549-96B3-6D0C-65B02B114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549804"/>
              </p:ext>
            </p:extLst>
          </p:nvPr>
        </p:nvGraphicFramePr>
        <p:xfrm>
          <a:off x="10007719" y="3133219"/>
          <a:ext cx="860485" cy="66423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860485">
                  <a:extLst>
                    <a:ext uri="{9D8B030D-6E8A-4147-A177-3AD203B41FA5}">
                      <a16:colId xmlns:a16="http://schemas.microsoft.com/office/drawing/2014/main" val="1662601645"/>
                    </a:ext>
                  </a:extLst>
                </a:gridCol>
              </a:tblGrid>
              <a:tr h="21934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States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09953"/>
                  </a:ext>
                </a:extLst>
              </a:tr>
              <a:tr h="219345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 ID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131492"/>
                  </a:ext>
                </a:extLst>
              </a:tr>
              <a:tr h="225541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93022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482AE6-0392-144C-803A-A09CC1012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848092"/>
              </p:ext>
            </p:extLst>
          </p:nvPr>
        </p:nvGraphicFramePr>
        <p:xfrm>
          <a:off x="7674512" y="4075199"/>
          <a:ext cx="2168227" cy="2245872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168227">
                  <a:extLst>
                    <a:ext uri="{9D8B030D-6E8A-4147-A177-3AD203B41FA5}">
                      <a16:colId xmlns:a16="http://schemas.microsoft.com/office/drawing/2014/main" val="3562918650"/>
                    </a:ext>
                  </a:extLst>
                </a:gridCol>
              </a:tblGrid>
              <a:tr h="2078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statewise_results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64965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0399147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Const. No.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83166327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Parliament Constituency </a:t>
                      </a:r>
                      <a:r>
                        <a:rPr lang="en-IN" sz="1200" u="none" strike="noStrike" dirty="0" err="1">
                          <a:effectLst/>
                        </a:rPr>
                        <a:t>Name_Number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52884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Leading Candidate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371241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Trailing 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460418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Margin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3301078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Status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849543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 ID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33928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State</a:t>
                      </a:r>
                      <a:endParaRPr lang="en-IN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7196275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F16BA0-B435-434E-4533-AC12B29B20B2}"/>
              </a:ext>
            </a:extLst>
          </p:cNvPr>
          <p:cNvCxnSpPr/>
          <p:nvPr/>
        </p:nvCxnSpPr>
        <p:spPr>
          <a:xfrm>
            <a:off x="5300932" y="2952391"/>
            <a:ext cx="0" cy="106752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824DFB-D01E-F062-0C45-86097A97AC9B}"/>
              </a:ext>
            </a:extLst>
          </p:cNvPr>
          <p:cNvCxnSpPr>
            <a:cxnSpLocks/>
          </p:cNvCxnSpPr>
          <p:nvPr/>
        </p:nvCxnSpPr>
        <p:spPr>
          <a:xfrm>
            <a:off x="2562044" y="4855952"/>
            <a:ext cx="180675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A6C98C-ECB4-0720-8F89-161501802FC8}"/>
              </a:ext>
            </a:extLst>
          </p:cNvPr>
          <p:cNvCxnSpPr>
            <a:cxnSpLocks/>
          </p:cNvCxnSpPr>
          <p:nvPr/>
        </p:nvCxnSpPr>
        <p:spPr>
          <a:xfrm>
            <a:off x="6366294" y="4930722"/>
            <a:ext cx="130821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63575A-9F66-31CC-610A-CCEB32947950}"/>
              </a:ext>
            </a:extLst>
          </p:cNvPr>
          <p:cNvCxnSpPr>
            <a:cxnSpLocks/>
          </p:cNvCxnSpPr>
          <p:nvPr/>
        </p:nvCxnSpPr>
        <p:spPr>
          <a:xfrm>
            <a:off x="9842739" y="5191665"/>
            <a:ext cx="59522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D9B085-7D97-2511-FDC4-3FDF3BD2F6B1}"/>
              </a:ext>
            </a:extLst>
          </p:cNvPr>
          <p:cNvCxnSpPr>
            <a:cxnSpLocks/>
          </p:cNvCxnSpPr>
          <p:nvPr/>
        </p:nvCxnSpPr>
        <p:spPr>
          <a:xfrm>
            <a:off x="10437962" y="3806679"/>
            <a:ext cx="0" cy="139145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13AB42A-D42E-4E0B-F968-4FA2EC8ACDE6}"/>
              </a:ext>
            </a:extLst>
          </p:cNvPr>
          <p:cNvSpPr txBox="1"/>
          <p:nvPr/>
        </p:nvSpPr>
        <p:spPr>
          <a:xfrm>
            <a:off x="2850066" y="4274203"/>
            <a:ext cx="117127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b="1" u="none" strike="noStrike" dirty="0">
                <a:effectLst/>
              </a:rPr>
              <a:t>Constituency ID = </a:t>
            </a:r>
            <a:r>
              <a:rPr lang="en-IN" sz="1050" b="1" dirty="0"/>
              <a:t>Constituency Number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064F27-5BCB-D7B4-EA36-D902790FE89C}"/>
              </a:ext>
            </a:extLst>
          </p:cNvPr>
          <p:cNvSpPr txBox="1"/>
          <p:nvPr/>
        </p:nvSpPr>
        <p:spPr>
          <a:xfrm>
            <a:off x="10414838" y="4453890"/>
            <a:ext cx="65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 b="1" u="none" strike="noStrike">
                <a:effectLst/>
              </a:defRPr>
            </a:lvl1pPr>
          </a:lstStyle>
          <a:p>
            <a:r>
              <a:rPr lang="en-IN" dirty="0"/>
              <a:t>State 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BFD8A5-E30B-31EB-7614-45AC70682565}"/>
              </a:ext>
            </a:extLst>
          </p:cNvPr>
          <p:cNvSpPr txBox="1"/>
          <p:nvPr/>
        </p:nvSpPr>
        <p:spPr>
          <a:xfrm>
            <a:off x="6469629" y="4954523"/>
            <a:ext cx="113006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 b="1" u="none" strike="noStrike">
                <a:effectLst/>
              </a:defRPr>
            </a:lvl1pPr>
          </a:lstStyle>
          <a:p>
            <a:r>
              <a:rPr lang="en-IN" dirty="0"/>
              <a:t>Parliament Constituency =</a:t>
            </a:r>
            <a:br>
              <a:rPr lang="en-IN" dirty="0"/>
            </a:br>
            <a:r>
              <a:rPr lang="en-IN" dirty="0"/>
              <a:t>Parliament Constituency </a:t>
            </a:r>
            <a:r>
              <a:rPr lang="en-IN" dirty="0" err="1"/>
              <a:t>Name_Number</a:t>
            </a:r>
            <a:br>
              <a:rPr lang="en-IN" dirty="0"/>
            </a:b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0A4DAE-EDE0-EAF7-AFC2-6EFACCEA7161}"/>
              </a:ext>
            </a:extLst>
          </p:cNvPr>
          <p:cNvSpPr txBox="1"/>
          <p:nvPr/>
        </p:nvSpPr>
        <p:spPr>
          <a:xfrm>
            <a:off x="5285956" y="3334530"/>
            <a:ext cx="65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 b="1" u="none" strike="noStrike">
                <a:effectLst/>
              </a:defRPr>
            </a:lvl1pPr>
          </a:lstStyle>
          <a:p>
            <a:r>
              <a:rPr lang="en-IN" dirty="0"/>
              <a:t>Party 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CD4D04-EEDD-4743-053C-3B35EF14CEDF}"/>
              </a:ext>
            </a:extLst>
          </p:cNvPr>
          <p:cNvSpPr txBox="1"/>
          <p:nvPr/>
        </p:nvSpPr>
        <p:spPr>
          <a:xfrm>
            <a:off x="347870" y="1337032"/>
            <a:ext cx="7786838" cy="461665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ENTITY RELATIONSHIP DIAGRAM (ERD) / SCHEMA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49A462-F683-FF9E-2884-322C8E54AF6A}"/>
              </a:ext>
            </a:extLst>
          </p:cNvPr>
          <p:cNvSpPr txBox="1"/>
          <p:nvPr/>
        </p:nvSpPr>
        <p:spPr>
          <a:xfrm>
            <a:off x="0" y="-1714"/>
            <a:ext cx="12192000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rial Black" panose="020B0A04020102020204" pitchFamily="34" charset="0"/>
              </a:rPr>
              <a:t>DATA MODELING IN POWER BI</a:t>
            </a:r>
            <a:endParaRPr lang="en-IN" sz="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6ED3E7-5D75-8B13-5431-49CF2DE9437F}"/>
              </a:ext>
            </a:extLst>
          </p:cNvPr>
          <p:cNvSpPr/>
          <p:nvPr/>
        </p:nvSpPr>
        <p:spPr>
          <a:xfrm>
            <a:off x="347870" y="1930448"/>
            <a:ext cx="10875095" cy="45287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66B2E6-A2B6-C6DA-9CEF-BE3B04956DDA}"/>
              </a:ext>
            </a:extLst>
          </p:cNvPr>
          <p:cNvSpPr txBox="1"/>
          <p:nvPr/>
        </p:nvSpPr>
        <p:spPr>
          <a:xfrm>
            <a:off x="1106621" y="736736"/>
            <a:ext cx="10460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Copperplate Gothic Bold" panose="020E0705020206020404" pitchFamily="34" charset="0"/>
              </a:rPr>
              <a:t>INDIA </a:t>
            </a: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Copperplate Gothic Bold" panose="020E0705020206020404" pitchFamily="34" charset="0"/>
              </a:rPr>
              <a:t>GENERAL ELECTION </a:t>
            </a:r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Copperplate Gothic Bold" panose="020E0705020206020404" pitchFamily="34" charset="0"/>
              </a:rPr>
              <a:t>RESULT ANALYSIS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opperplate Gothic Bold" panose="020E0705020206020404" pitchFamily="34" charset="0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953662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115</Words>
  <Application>Microsoft Office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Arial Rounded MT Bold</vt:lpstr>
      <vt:lpstr>Calibri</vt:lpstr>
      <vt:lpstr>Calibri Light</vt:lpstr>
      <vt:lpstr>Copperplate Gothic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Muthukumar Panchabekasan (CTR)</cp:lastModifiedBy>
  <cp:revision>30</cp:revision>
  <dcterms:created xsi:type="dcterms:W3CDTF">2024-08-26T16:35:30Z</dcterms:created>
  <dcterms:modified xsi:type="dcterms:W3CDTF">2025-07-06T04:54:01Z</dcterms:modified>
</cp:coreProperties>
</file>